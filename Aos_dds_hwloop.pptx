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61" r:id="rId3"/>
    <p:sldId id="262" r:id="rId4"/>
    <p:sldId id="263" r:id="rId5"/>
    <p:sldId id="264" r:id="rId6"/>
    <p:sldId id="265" r:id="rId7"/>
    <p:sldId id="266" r:id="rId8"/>
    <p:sldId id="267" r:id="rId9"/>
  </p:sldIdLst>
  <p:sldSz cx="9144000" cy="5143500" type="screen16x9"/>
  <p:notesSz cx="6858000" cy="9144000"/>
  <p:embeddedFontLst>
    <p:embeddedFont>
      <p:font typeface="Play" panose="020B0604020202020204" charset="0"/>
      <p:regular r:id="rId11"/>
      <p:bold r:id="rId1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5" roundtripDataSignature="AMtx7mg+2cIUjnr4uQwEQPhkEuuPcV7u3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customschemas.google.com/relationships/presentationmetadata" Target="metadata"/><Relationship Id="rId10" Type="http://schemas.openxmlformats.org/officeDocument/2006/relationships/notesMaster" Target="notesMasters/notesMaster1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04974F24-A22E-46DD-80F7-EB11302D83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>
            <a:extLst>
              <a:ext uri="{FF2B5EF4-FFF2-40B4-BE49-F238E27FC236}">
                <a16:creationId xmlns:a16="http://schemas.microsoft.com/office/drawing/2014/main" id="{7C7DFEF3-AC4E-BD00-CC09-45B1CAE29C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3:notes">
            <a:extLst>
              <a:ext uri="{FF2B5EF4-FFF2-40B4-BE49-F238E27FC236}">
                <a16:creationId xmlns:a16="http://schemas.microsoft.com/office/drawing/2014/main" id="{FBFC857A-C265-50B5-938B-316DD5F52CB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779346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D85A3B1E-C2DD-A1A6-6418-30CFBBA6B7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:notes">
            <a:extLst>
              <a:ext uri="{FF2B5EF4-FFF2-40B4-BE49-F238E27FC236}">
                <a16:creationId xmlns:a16="http://schemas.microsoft.com/office/drawing/2014/main" id="{25BD017E-D0BD-802B-3BB7-9749B19B524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4:notes">
            <a:extLst>
              <a:ext uri="{FF2B5EF4-FFF2-40B4-BE49-F238E27FC236}">
                <a16:creationId xmlns:a16="http://schemas.microsoft.com/office/drawing/2014/main" id="{AB1F4FF3-D475-AA27-5AB2-6B1003C8585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807718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53E223F5-975D-D8BE-0BE8-6A45EDA6BE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:notes">
            <a:extLst>
              <a:ext uri="{FF2B5EF4-FFF2-40B4-BE49-F238E27FC236}">
                <a16:creationId xmlns:a16="http://schemas.microsoft.com/office/drawing/2014/main" id="{C952A30C-77F2-4E44-9696-EE11EAB632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4:notes">
            <a:extLst>
              <a:ext uri="{FF2B5EF4-FFF2-40B4-BE49-F238E27FC236}">
                <a16:creationId xmlns:a16="http://schemas.microsoft.com/office/drawing/2014/main" id="{8334B08D-CB7F-6B9A-04F2-B5CCDEF68C6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038839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CDDCF9CA-E21B-7B7C-0ECF-CF8774954E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:notes">
            <a:extLst>
              <a:ext uri="{FF2B5EF4-FFF2-40B4-BE49-F238E27FC236}">
                <a16:creationId xmlns:a16="http://schemas.microsoft.com/office/drawing/2014/main" id="{6CD9EB9B-09BC-88AD-8511-55D09153A65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4:notes">
            <a:extLst>
              <a:ext uri="{FF2B5EF4-FFF2-40B4-BE49-F238E27FC236}">
                <a16:creationId xmlns:a16="http://schemas.microsoft.com/office/drawing/2014/main" id="{848BF6BC-1E2E-603C-D857-D05A4C8ADD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604487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A8C4C6AA-7CD3-C98A-5E28-1B3E7176CA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>
            <a:extLst>
              <a:ext uri="{FF2B5EF4-FFF2-40B4-BE49-F238E27FC236}">
                <a16:creationId xmlns:a16="http://schemas.microsoft.com/office/drawing/2014/main" id="{EA6A5F29-3AC7-6AD2-95FB-3122155421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5:notes">
            <a:extLst>
              <a:ext uri="{FF2B5EF4-FFF2-40B4-BE49-F238E27FC236}">
                <a16:creationId xmlns:a16="http://schemas.microsoft.com/office/drawing/2014/main" id="{FD428FA6-F153-95CE-AD05-C9D48EB8D6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921627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7"/>
          <p:cNvSpPr txBox="1">
            <a:spLocks noGrp="1"/>
          </p:cNvSpPr>
          <p:nvPr>
            <p:ph type="ctrTitle"/>
          </p:nvPr>
        </p:nvSpPr>
        <p:spPr>
          <a:xfrm>
            <a:off x="391601" y="2111660"/>
            <a:ext cx="7772400" cy="565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7"/>
          <p:cNvSpPr txBox="1">
            <a:spLocks noGrp="1"/>
          </p:cNvSpPr>
          <p:nvPr>
            <p:ph type="subTitle" idx="1"/>
          </p:nvPr>
        </p:nvSpPr>
        <p:spPr>
          <a:xfrm>
            <a:off x="391600" y="2692387"/>
            <a:ext cx="7772399" cy="13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7"/>
          <p:cNvSpPr txBox="1">
            <a:spLocks noGrp="1"/>
          </p:cNvSpPr>
          <p:nvPr>
            <p:ph type="dt" idx="10"/>
          </p:nvPr>
        </p:nvSpPr>
        <p:spPr>
          <a:xfrm>
            <a:off x="6553200" y="4779566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7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6" name="Google Shape;16;p7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7" name="Google Shape;17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91601" y="200359"/>
            <a:ext cx="1671332" cy="5655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8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8"/>
          <p:cNvSpPr txBox="1"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75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marL="1371600" lvl="2" indent="-29845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/>
            </a:lvl3pPr>
            <a:lvl4pPr marL="1828800" lvl="3" indent="-29527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50"/>
              <a:buChar char="–"/>
              <a:defRPr/>
            </a:lvl4pPr>
            <a:lvl5pPr marL="2286000" lvl="4" indent="-29527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50"/>
              <a:buChar char="»"/>
              <a:defRPr/>
            </a:lvl5pPr>
            <a:lvl6pPr marL="2743200" lvl="5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" name="Google Shape;21;p8"/>
          <p:cNvSpPr txBox="1">
            <a:spLocks noGrp="1"/>
          </p:cNvSpPr>
          <p:nvPr>
            <p:ph type="dt" idx="10"/>
          </p:nvPr>
        </p:nvSpPr>
        <p:spPr>
          <a:xfrm>
            <a:off x="5617028" y="4774322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8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3" name="Google Shape;23;p8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9"/>
          <p:cNvSpPr txBox="1">
            <a:spLocks noGrp="1"/>
          </p:cNvSpPr>
          <p:nvPr>
            <p:ph type="title"/>
          </p:nvPr>
        </p:nvSpPr>
        <p:spPr>
          <a:xfrm>
            <a:off x="495300" y="1852442"/>
            <a:ext cx="8153400" cy="1021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9"/>
          <p:cNvSpPr txBox="1">
            <a:spLocks noGrp="1"/>
          </p:cNvSpPr>
          <p:nvPr>
            <p:ph type="body" idx="1"/>
          </p:nvPr>
        </p:nvSpPr>
        <p:spPr>
          <a:xfrm>
            <a:off x="495300" y="720243"/>
            <a:ext cx="81534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9"/>
          <p:cNvSpPr txBox="1">
            <a:spLocks noGrp="1"/>
          </p:cNvSpPr>
          <p:nvPr>
            <p:ph type="dt" idx="10"/>
          </p:nvPr>
        </p:nvSpPr>
        <p:spPr>
          <a:xfrm>
            <a:off x="5617028" y="4774322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9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9" name="Google Shape;29;p9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0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0"/>
          <p:cNvSpPr txBox="1">
            <a:spLocks noGrp="1"/>
          </p:cNvSpPr>
          <p:nvPr>
            <p:ph type="body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1pPr>
            <a:lvl2pPr marL="914400" lvl="1" indent="-3048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marL="1371600" lvl="2" indent="-29845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3pPr>
            <a:lvl4pPr marL="1828800" lvl="3" indent="-295275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50"/>
              <a:buChar char="–"/>
              <a:defRPr sz="1050"/>
            </a:lvl4pPr>
            <a:lvl5pPr marL="2286000" lvl="4" indent="-295275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50"/>
              <a:buChar char="»"/>
              <a:defRPr sz="1050"/>
            </a:lvl5pPr>
            <a:lvl6pPr marL="2743200" lvl="5" indent="-314325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6pPr>
            <a:lvl7pPr marL="3200400" lvl="6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7pPr>
            <a:lvl8pPr marL="3657600" lvl="7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8pPr>
            <a:lvl9pPr marL="4114800" lvl="8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9pPr>
          </a:lstStyle>
          <a:p>
            <a:endParaRPr/>
          </a:p>
        </p:txBody>
      </p:sp>
      <p:sp>
        <p:nvSpPr>
          <p:cNvPr id="33" name="Google Shape;33;p10"/>
          <p:cNvSpPr txBox="1">
            <a:spLocks noGrp="1"/>
          </p:cNvSpPr>
          <p:nvPr>
            <p:ph type="body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1pPr>
            <a:lvl2pPr marL="914400" lvl="1" indent="-3048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marL="1371600" lvl="2" indent="-29845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3pPr>
            <a:lvl4pPr marL="1828800" lvl="3" indent="-295275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50"/>
              <a:buChar char="–"/>
              <a:defRPr sz="1050"/>
            </a:lvl4pPr>
            <a:lvl5pPr marL="2286000" lvl="4" indent="-295275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50"/>
              <a:buChar char="»"/>
              <a:defRPr sz="1050"/>
            </a:lvl5pPr>
            <a:lvl6pPr marL="2743200" lvl="5" indent="-314325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6pPr>
            <a:lvl7pPr marL="3200400" lvl="6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7pPr>
            <a:lvl8pPr marL="3657600" lvl="7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8pPr>
            <a:lvl9pPr marL="4114800" lvl="8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9pPr>
          </a:lstStyle>
          <a:p>
            <a:endParaRPr/>
          </a:p>
        </p:txBody>
      </p:sp>
      <p:sp>
        <p:nvSpPr>
          <p:cNvPr id="34" name="Google Shape;34;p10"/>
          <p:cNvSpPr txBox="1">
            <a:spLocks noGrp="1"/>
          </p:cNvSpPr>
          <p:nvPr>
            <p:ph type="dt" idx="10"/>
          </p:nvPr>
        </p:nvSpPr>
        <p:spPr>
          <a:xfrm>
            <a:off x="5617028" y="4774322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0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6" name="Google Shape;36;p10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1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1"/>
          <p:cNvSpPr txBox="1"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0" name="Google Shape;40;p11"/>
          <p:cNvSpPr txBox="1">
            <a:spLocks noGrp="1"/>
          </p:cNvSpPr>
          <p:nvPr>
            <p:ph type="body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2385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marL="1371600" lvl="2" indent="-314325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3pPr>
            <a:lvl4pPr marL="1828800" lvl="3" indent="-3048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marL="2286000" lvl="4" indent="-3048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marL="2743200" lvl="5" indent="-3048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marL="3200400" lvl="6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marL="3657600" lvl="7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marL="4114800" lvl="8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>
            <a:endParaRPr/>
          </a:p>
        </p:txBody>
      </p:sp>
      <p:sp>
        <p:nvSpPr>
          <p:cNvPr id="41" name="Google Shape;41;p11"/>
          <p:cNvSpPr txBox="1">
            <a:spLocks noGrp="1"/>
          </p:cNvSpPr>
          <p:nvPr>
            <p:ph type="body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2385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marL="1371600" lvl="2" indent="-314325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3pPr>
            <a:lvl4pPr marL="1828800" lvl="3" indent="-3048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marL="2286000" lvl="4" indent="-3048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marL="2743200" lvl="5" indent="-3048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marL="3200400" lvl="6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marL="3657600" lvl="7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marL="4114800" lvl="8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5617028" y="4774322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2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2"/>
          <p:cNvSpPr txBox="1">
            <a:spLocks noGrp="1"/>
          </p:cNvSpPr>
          <p:nvPr>
            <p:ph type="dt" idx="10"/>
          </p:nvPr>
        </p:nvSpPr>
        <p:spPr>
          <a:xfrm>
            <a:off x="5617028" y="4774322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>
            <a:spLocks noGrp="1"/>
          </p:cNvSpPr>
          <p:nvPr>
            <p:ph type="dt" idx="10"/>
          </p:nvPr>
        </p:nvSpPr>
        <p:spPr>
          <a:xfrm>
            <a:off x="5617028" y="4774322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body"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2pPr>
            <a:lvl3pPr marL="1371600" lvl="2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marL="2286000" lvl="4" indent="-32385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marL="2743200" lvl="5" indent="-32385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body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95275" algn="l"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Char char="•"/>
              <a:defRPr sz="1050"/>
            </a:lvl1pPr>
            <a:lvl2pPr marL="914400" lvl="1" indent="-28575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sz="900"/>
            </a:lvl2pPr>
            <a:lvl3pPr marL="1371600" lvl="2" indent="-276225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Char char="•"/>
              <a:defRPr sz="750"/>
            </a:lvl3pPr>
            <a:lvl4pPr marL="1828800" lvl="3" indent="-271462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675"/>
              <a:buFont typeface="Arial"/>
              <a:buChar char="•"/>
              <a:defRPr sz="675"/>
            </a:lvl4pPr>
            <a:lvl5pPr marL="2286000" lvl="4" indent="-271462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675"/>
              <a:buFont typeface="Arial"/>
              <a:buChar char="•"/>
              <a:defRPr sz="675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6pPr>
            <a:lvl7pPr marL="3200400" lvl="6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7pPr>
            <a:lvl8pPr marL="3657600" lvl="7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8pPr>
            <a:lvl9pPr marL="4114800" lvl="8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dt" idx="10"/>
          </p:nvPr>
        </p:nvSpPr>
        <p:spPr>
          <a:xfrm>
            <a:off x="5617028" y="4774322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>
            <a:spLocks noGrp="1"/>
          </p:cNvSpPr>
          <p:nvPr>
            <p:ph type="pic" idx="2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65" name="Google Shape;65;p15"/>
          <p:cNvSpPr txBox="1">
            <a:spLocks noGrp="1"/>
          </p:cNvSpPr>
          <p:nvPr>
            <p:ph type="body" idx="1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6pPr>
            <a:lvl7pPr marL="3200400" lvl="6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7pPr>
            <a:lvl8pPr marL="3657600" lvl="7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8pPr>
            <a:lvl9pPr marL="4114800" lvl="8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9pPr>
          </a:lstStyle>
          <a:p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dt" idx="10"/>
          </p:nvPr>
        </p:nvSpPr>
        <p:spPr>
          <a:xfrm>
            <a:off x="5617028" y="4774322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" name="Google Shape;68;p15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body" idx="1"/>
          </p:nvPr>
        </p:nvSpPr>
        <p:spPr>
          <a:xfrm rot="5400000">
            <a:off x="2874764" y="-1217413"/>
            <a:ext cx="3394472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2" name="Google Shape;72;p16"/>
          <p:cNvSpPr txBox="1">
            <a:spLocks noGrp="1"/>
          </p:cNvSpPr>
          <p:nvPr>
            <p:ph type="dt" idx="10"/>
          </p:nvPr>
        </p:nvSpPr>
        <p:spPr>
          <a:xfrm>
            <a:off x="5617028" y="4774322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6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4" name="Google Shape;74;p16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>
            <a:spLocks noGrp="1"/>
          </p:cNvSpPr>
          <p:nvPr>
            <p:ph type="title"/>
          </p:nvPr>
        </p:nvSpPr>
        <p:spPr>
          <a:xfrm rot="5400000">
            <a:off x="5463778" y="1371601"/>
            <a:ext cx="4388644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body" idx="1"/>
          </p:nvPr>
        </p:nvSpPr>
        <p:spPr>
          <a:xfrm rot="5400000">
            <a:off x="1272778" y="-609599"/>
            <a:ext cx="4388644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17"/>
          <p:cNvSpPr txBox="1">
            <a:spLocks noGrp="1"/>
          </p:cNvSpPr>
          <p:nvPr>
            <p:ph type="dt" idx="10"/>
          </p:nvPr>
        </p:nvSpPr>
        <p:spPr>
          <a:xfrm>
            <a:off x="5617028" y="4774322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7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0" name="Google Shape;80;p17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175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5275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Char char="–"/>
              <a:defRPr sz="10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5275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Char char="»"/>
              <a:defRPr sz="10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6"/>
          <p:cNvSpPr txBox="1">
            <a:spLocks noGrp="1"/>
          </p:cNvSpPr>
          <p:nvPr>
            <p:ph type="dt" idx="10"/>
          </p:nvPr>
        </p:nvSpPr>
        <p:spPr>
          <a:xfrm>
            <a:off x="5617028" y="4774322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6"/>
          <p:cNvSpPr txBox="1"/>
          <p:nvPr/>
        </p:nvSpPr>
        <p:spPr>
          <a:xfrm>
            <a:off x="3328715" y="4712901"/>
            <a:ext cx="2486579" cy="200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Advanced Operating Systems course project – 202</a:t>
            </a:r>
            <a:r>
              <a:rPr lang="en-US" sz="700">
                <a:solidFill>
                  <a:srgbClr val="7F7F7F"/>
                </a:solidFill>
              </a:rPr>
              <a:t>5</a:t>
            </a:r>
            <a:r>
              <a:rPr lang="en-US"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/202</a:t>
            </a:r>
            <a:r>
              <a:rPr lang="en-US" sz="700">
                <a:solidFill>
                  <a:srgbClr val="7F7F7F"/>
                </a:solidFill>
              </a:rPr>
              <a:t>6</a:t>
            </a:r>
            <a:endParaRPr/>
          </a:p>
        </p:txBody>
      </p:sp>
      <p:sp>
        <p:nvSpPr>
          <p:cNvPr id="9" name="Google Shape;9;p6"/>
          <p:cNvSpPr txBox="1">
            <a:spLocks noGrp="1"/>
          </p:cNvSpPr>
          <p:nvPr>
            <p:ph type="title"/>
          </p:nvPr>
        </p:nvSpPr>
        <p:spPr>
          <a:xfrm>
            <a:off x="457200" y="206376"/>
            <a:ext cx="8229600" cy="993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pic>
        <p:nvPicPr>
          <p:cNvPr id="10" name="Google Shape;10;p6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457200" y="4645453"/>
            <a:ext cx="979817" cy="331525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"/>
          <p:cNvSpPr txBox="1">
            <a:spLocks noGrp="1"/>
          </p:cNvSpPr>
          <p:nvPr>
            <p:ph type="ctrTitle"/>
          </p:nvPr>
        </p:nvSpPr>
        <p:spPr>
          <a:xfrm>
            <a:off x="391601" y="2111660"/>
            <a:ext cx="7772400" cy="565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2000"/>
            </a:pPr>
            <a:r>
              <a:rPr lang="en-US" dirty="0"/>
              <a:t>Integrating TORCS within a DDS environment</a:t>
            </a:r>
            <a:endParaRPr dirty="0"/>
          </a:p>
        </p:txBody>
      </p:sp>
      <p:sp>
        <p:nvSpPr>
          <p:cNvPr id="86" name="Google Shape;86;p1"/>
          <p:cNvSpPr txBox="1">
            <a:spLocks noGrp="1"/>
          </p:cNvSpPr>
          <p:nvPr>
            <p:ph type="subTitle" idx="1"/>
          </p:nvPr>
        </p:nvSpPr>
        <p:spPr>
          <a:xfrm>
            <a:off x="391600" y="2692387"/>
            <a:ext cx="7772399" cy="13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</a:pPr>
            <a:r>
              <a:rPr lang="en-US" dirty="0"/>
              <a:t>Apollonio Marco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</a:pPr>
            <a:r>
              <a:rPr lang="en-US" dirty="0">
                <a:solidFill>
                  <a:srgbClr val="888888"/>
                </a:solidFill>
              </a:rPr>
              <a:t>Bossi Giacomo</a:t>
            </a:r>
            <a:br>
              <a:rPr lang="en-US" dirty="0">
                <a:solidFill>
                  <a:srgbClr val="888888"/>
                </a:solidFill>
              </a:rPr>
            </a:br>
            <a:br>
              <a:rPr lang="en-US" dirty="0">
                <a:solidFill>
                  <a:srgbClr val="888888"/>
                </a:solidFill>
              </a:rPr>
            </a:br>
            <a:endParaRPr dirty="0"/>
          </a:p>
        </p:txBody>
      </p:sp>
      <p:sp>
        <p:nvSpPr>
          <p:cNvPr id="87" name="Google Shape;87;p1"/>
          <p:cNvSpPr txBox="1">
            <a:spLocks noGrp="1"/>
          </p:cNvSpPr>
          <p:nvPr>
            <p:ph type="dt" idx="10"/>
          </p:nvPr>
        </p:nvSpPr>
        <p:spPr>
          <a:xfrm>
            <a:off x="6553200" y="4779566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lang="en-US"/>
              <a:t>2023-07-25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065C922B-2C25-4327-5D06-DD283063AB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">
            <a:extLst>
              <a:ext uri="{FF2B5EF4-FFF2-40B4-BE49-F238E27FC236}">
                <a16:creationId xmlns:a16="http://schemas.microsoft.com/office/drawing/2014/main" id="{AA219DEF-BE14-F57A-378F-0D9694AF19F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/>
              <a:t>Context and problem addressed</a:t>
            </a:r>
            <a:endParaRPr/>
          </a:p>
        </p:txBody>
      </p:sp>
      <p:sp>
        <p:nvSpPr>
          <p:cNvPr id="99" name="Google Shape;99;p3">
            <a:extLst>
              <a:ext uri="{FF2B5EF4-FFF2-40B4-BE49-F238E27FC236}">
                <a16:creationId xmlns:a16="http://schemas.microsoft.com/office/drawing/2014/main" id="{77E498F2-B163-CAA9-31F6-D1363A0C364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234900" algn="l" rtl="0">
              <a:lnSpc>
                <a:spcPct val="100000"/>
              </a:lnSpc>
              <a:spcBef>
                <a:spcPts val="88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 dirty="0"/>
              <a:t>The project required us to create a simulated environment where an ECU running </a:t>
            </a:r>
            <a:r>
              <a:rPr lang="en-US" dirty="0" err="1"/>
              <a:t>FreeRTOS</a:t>
            </a:r>
            <a:r>
              <a:rPr lang="en-US" dirty="0"/>
              <a:t> would be able to communicate through Ethernet and the DDS protocol with the car simulator TORCS</a:t>
            </a:r>
          </a:p>
          <a:p>
            <a:pPr marL="342900" lvl="0" indent="-234900" algn="l" rtl="0">
              <a:lnSpc>
                <a:spcPct val="100000"/>
              </a:lnSpc>
              <a:spcBef>
                <a:spcPts val="88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 dirty="0"/>
              <a:t>The Proof Of Concept that we implemented allows a monodirectional communication from the ECU to the simulator, allowing to send steer commands through VSS standard and to see the car steer in the simulation according to the input received</a:t>
            </a:r>
          </a:p>
        </p:txBody>
      </p:sp>
    </p:spTree>
    <p:extLst>
      <p:ext uri="{BB962C8B-B14F-4D97-AF65-F5344CB8AC3E}">
        <p14:creationId xmlns:p14="http://schemas.microsoft.com/office/powerpoint/2010/main" val="1370160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178997C5-8651-75B3-2466-A624B4CB76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">
            <a:extLst>
              <a:ext uri="{FF2B5EF4-FFF2-40B4-BE49-F238E27FC236}">
                <a16:creationId xmlns:a16="http://schemas.microsoft.com/office/drawing/2014/main" id="{839861B8-E99A-4500-C4D5-7135502A243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/>
              <a:t>Solution: General Schematization</a:t>
            </a:r>
            <a:endParaRPr lang="en-US" dirty="0"/>
          </a:p>
        </p:txBody>
      </p:sp>
      <p:sp>
        <p:nvSpPr>
          <p:cNvPr id="105" name="Google Shape;105;p4">
            <a:extLst>
              <a:ext uri="{FF2B5EF4-FFF2-40B4-BE49-F238E27FC236}">
                <a16:creationId xmlns:a16="http://schemas.microsoft.com/office/drawing/2014/main" id="{EE659E49-C459-2ECA-B182-04E48B27F9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200151"/>
            <a:ext cx="41148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234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 dirty="0"/>
              <a:t>The implementation is divided</a:t>
            </a:r>
            <a:br>
              <a:rPr lang="en-US" dirty="0"/>
            </a:br>
            <a:r>
              <a:rPr lang="en-US" dirty="0"/>
              <a:t>mainly in two parts:</a:t>
            </a:r>
          </a:p>
          <a:p>
            <a:pPr marL="800100" lvl="1" indent="-234900">
              <a:spcBef>
                <a:spcPts val="0"/>
              </a:spcBef>
              <a:buChar char="•"/>
            </a:pPr>
            <a:r>
              <a:rPr lang="en-US" dirty="0"/>
              <a:t>The ECU implemented in a</a:t>
            </a:r>
            <a:br>
              <a:rPr lang="en-US" dirty="0"/>
            </a:br>
            <a:r>
              <a:rPr lang="en-US" dirty="0" err="1"/>
              <a:t>Qemu</a:t>
            </a:r>
            <a:r>
              <a:rPr lang="en-US" dirty="0"/>
              <a:t> emulator</a:t>
            </a:r>
          </a:p>
          <a:p>
            <a:pPr marL="800100" lvl="1" indent="-234900">
              <a:spcBef>
                <a:spcPts val="0"/>
              </a:spcBef>
              <a:buChar char="•"/>
            </a:pPr>
            <a:r>
              <a:rPr lang="en-US" dirty="0"/>
              <a:t>The TORCS simulator, which</a:t>
            </a:r>
            <a:br>
              <a:rPr lang="en-US" dirty="0"/>
            </a:br>
            <a:r>
              <a:rPr lang="en-US" dirty="0"/>
              <a:t>was put in a Docker container</a:t>
            </a:r>
          </a:p>
          <a:p>
            <a:pPr marL="565200" lvl="1" indent="0">
              <a:spcBef>
                <a:spcPts val="0"/>
              </a:spcBef>
              <a:buNone/>
            </a:pPr>
            <a:endParaRPr lang="en-US" dirty="0"/>
          </a:p>
        </p:txBody>
      </p:sp>
      <p:pic>
        <p:nvPicPr>
          <p:cNvPr id="6" name="Picture 5" descr="A diagram of a diagram">
            <a:extLst>
              <a:ext uri="{FF2B5EF4-FFF2-40B4-BE49-F238E27FC236}">
                <a16:creationId xmlns:a16="http://schemas.microsoft.com/office/drawing/2014/main" id="{589312CD-C19A-E6F3-F660-CE926C0586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2811" y="1389207"/>
            <a:ext cx="4782251" cy="2365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27349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AA713058-58AF-9264-BD10-DF136C98EA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">
            <a:extLst>
              <a:ext uri="{FF2B5EF4-FFF2-40B4-BE49-F238E27FC236}">
                <a16:creationId xmlns:a16="http://schemas.microsoft.com/office/drawing/2014/main" id="{BB61322F-4996-CA12-FAB3-B1A2C4622FE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06376"/>
            <a:ext cx="8229600" cy="99377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dirty="0"/>
              <a:t>Solution: ECU Implementation</a:t>
            </a:r>
            <a:endParaRPr lang="en-US"/>
          </a:p>
        </p:txBody>
      </p:sp>
      <p:pic>
        <p:nvPicPr>
          <p:cNvPr id="3" name="Picture 2" descr="A diagram of a computer system">
            <a:extLst>
              <a:ext uri="{FF2B5EF4-FFF2-40B4-BE49-F238E27FC236}">
                <a16:creationId xmlns:a16="http://schemas.microsoft.com/office/drawing/2014/main" id="{A2C5AF15-D656-6DFF-B7C6-DAC4FCA3F15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07" r="324"/>
          <a:stretch>
            <a:fillRect/>
          </a:stretch>
        </p:blipFill>
        <p:spPr>
          <a:xfrm>
            <a:off x="300182" y="1390651"/>
            <a:ext cx="4271818" cy="3264408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4">
            <a:extLst>
              <a:ext uri="{FF2B5EF4-FFF2-40B4-BE49-F238E27FC236}">
                <a16:creationId xmlns:a16="http://schemas.microsoft.com/office/drawing/2014/main" id="{9C681128-C43C-382D-FEFB-C8BE7F126062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762500" y="1390651"/>
            <a:ext cx="3924300" cy="3264408"/>
          </a:xfrm>
        </p:spPr>
        <p:txBody>
          <a:bodyPr spcFirstLastPara="1" lIns="91425" tIns="45700" rIns="91425" bIns="45700" anchor="t" anchorCtr="0">
            <a:normAutofit/>
          </a:bodyPr>
          <a:lstStyle/>
          <a:p>
            <a:pPr marL="393750" indent="-285750"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b="0" i="0" u="none" strike="noStrike" cap="none" dirty="0"/>
              <a:t>The ECU code is divided in two main tasks:</a:t>
            </a:r>
          </a:p>
          <a:p>
            <a:pPr marL="736650" lvl="1" indent="-285750"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dirty="0"/>
              <a:t>The UART input reading task, responsible to read the value of the  input device</a:t>
            </a:r>
          </a:p>
          <a:p>
            <a:pPr marL="736650" lvl="1" indent="-285750"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b="0" i="0" u="none" strike="noStrike" cap="none" dirty="0"/>
              <a:t>The XRCE DDS task responsible to handle the network setup, create the VSS message to send and send it to the XRCE DDS Agent</a:t>
            </a:r>
            <a:r>
              <a:rPr lang="en-US" dirty="0"/>
              <a:t> </a:t>
            </a:r>
          </a:p>
          <a:p>
            <a:pPr marL="736650" lvl="1" indent="-285750"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dirty="0"/>
              <a:t>The XRCE Agent is a program run on the Host System to allow the interfacing of the ECU to the DDS domain</a:t>
            </a:r>
          </a:p>
        </p:txBody>
      </p:sp>
    </p:spTree>
    <p:extLst>
      <p:ext uri="{BB962C8B-B14F-4D97-AF65-F5344CB8AC3E}">
        <p14:creationId xmlns:p14="http://schemas.microsoft.com/office/powerpoint/2010/main" val="14894411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B6C1CA9C-9996-8AC8-3972-D115B477D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">
            <a:extLst>
              <a:ext uri="{FF2B5EF4-FFF2-40B4-BE49-F238E27FC236}">
                <a16:creationId xmlns:a16="http://schemas.microsoft.com/office/drawing/2014/main" id="{E4B64C83-F100-46D2-189B-B60B069BE13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dirty="0"/>
              <a:t>Solution: TORCS Implementation</a:t>
            </a:r>
            <a:endParaRPr dirty="0"/>
          </a:p>
        </p:txBody>
      </p:sp>
      <p:sp>
        <p:nvSpPr>
          <p:cNvPr id="105" name="Google Shape;105;p4">
            <a:extLst>
              <a:ext uri="{FF2B5EF4-FFF2-40B4-BE49-F238E27FC236}">
                <a16:creationId xmlns:a16="http://schemas.microsoft.com/office/drawing/2014/main" id="{AE96C4A4-76A1-2B4A-9448-3F12034294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063229"/>
            <a:ext cx="4114800" cy="35313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234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 dirty="0"/>
              <a:t>The TORCS code is a “pilot” created by a make command defined by the developer of the simulator</a:t>
            </a:r>
          </a:p>
          <a:p>
            <a:pPr marL="342900" lvl="0" indent="-234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 dirty="0"/>
              <a:t>we added the OPENDDS library to create the subscriber to receive the Steer commands</a:t>
            </a:r>
          </a:p>
          <a:p>
            <a:pPr marL="342900" lvl="0" indent="-234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 dirty="0"/>
              <a:t>Once the messages arrive, they are put in a queue and the drive method inside the pilot object will pop them to set the car steer value</a:t>
            </a:r>
          </a:p>
        </p:txBody>
      </p:sp>
      <p:pic>
        <p:nvPicPr>
          <p:cNvPr id="7" name="Picture 6" descr="A diagram of a computer&#10;&#10;AI-generated content may be incorrect.">
            <a:extLst>
              <a:ext uri="{FF2B5EF4-FFF2-40B4-BE49-F238E27FC236}">
                <a16:creationId xmlns:a16="http://schemas.microsoft.com/office/drawing/2014/main" id="{2C63E102-F7DD-55A8-B035-D9ACD474A0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063229"/>
            <a:ext cx="4520860" cy="2520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05189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C9B3245F-FADA-45D6-B586-B3B080AC9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">
            <a:extLst>
              <a:ext uri="{FF2B5EF4-FFF2-40B4-BE49-F238E27FC236}">
                <a16:creationId xmlns:a16="http://schemas.microsoft.com/office/drawing/2014/main" id="{23AC014A-51DF-ACD3-CDFC-22DD462EC5A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/>
              <a:t>Outcomes</a:t>
            </a:r>
            <a:endParaRPr/>
          </a:p>
        </p:txBody>
      </p:sp>
      <p:sp>
        <p:nvSpPr>
          <p:cNvPr id="111" name="Google Shape;111;p5">
            <a:extLst>
              <a:ext uri="{FF2B5EF4-FFF2-40B4-BE49-F238E27FC236}">
                <a16:creationId xmlns:a16="http://schemas.microsoft.com/office/drawing/2014/main" id="{82204D4F-4991-11CB-EF4F-055424E0786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800100" lvl="1" indent="-234900">
              <a:spcBef>
                <a:spcPts val="0"/>
              </a:spcBef>
              <a:buChar char="•"/>
            </a:pPr>
            <a:r>
              <a:rPr lang="it-IT" dirty="0" err="1"/>
              <a:t>Artifacts</a:t>
            </a:r>
            <a:r>
              <a:rPr lang="it-IT" dirty="0"/>
              <a:t> :</a:t>
            </a:r>
          </a:p>
          <a:p>
            <a:pPr marL="1193850" lvl="2" indent="-1714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it-IT" sz="1400" dirty="0"/>
              <a:t>A </a:t>
            </a:r>
            <a:r>
              <a:rPr lang="it-IT" sz="1400" dirty="0" err="1"/>
              <a:t>docker</a:t>
            </a:r>
            <a:r>
              <a:rPr lang="it-IT" sz="1400" dirty="0"/>
              <a:t> image </a:t>
            </a:r>
            <a:r>
              <a:rPr lang="it-IT" sz="1400" dirty="0" err="1"/>
              <a:t>was</a:t>
            </a:r>
            <a:r>
              <a:rPr lang="it-IT" sz="1400" dirty="0"/>
              <a:t> </a:t>
            </a:r>
            <a:r>
              <a:rPr lang="it-IT" sz="1400" dirty="0" err="1"/>
              <a:t>created</a:t>
            </a:r>
            <a:r>
              <a:rPr lang="it-IT" sz="1400" dirty="0"/>
              <a:t> to </a:t>
            </a:r>
            <a:r>
              <a:rPr lang="it-IT" sz="1400" dirty="0" err="1"/>
              <a:t>simplify</a:t>
            </a:r>
            <a:r>
              <a:rPr lang="it-IT" sz="1400" dirty="0"/>
              <a:t> the </a:t>
            </a:r>
            <a:r>
              <a:rPr lang="it-IT" sz="1400" dirty="0" err="1"/>
              <a:t>process</a:t>
            </a:r>
            <a:r>
              <a:rPr lang="it-IT" sz="1400" dirty="0"/>
              <a:t> of working with TORCS by </a:t>
            </a:r>
            <a:r>
              <a:rPr lang="it-IT" sz="1400" dirty="0" err="1"/>
              <a:t>installing</a:t>
            </a:r>
            <a:r>
              <a:rPr lang="it-IT" sz="1400" dirty="0"/>
              <a:t> </a:t>
            </a:r>
            <a:r>
              <a:rPr lang="it-IT" sz="1400" dirty="0" err="1"/>
              <a:t>all</a:t>
            </a:r>
            <a:r>
              <a:rPr lang="it-IT" sz="1400" dirty="0"/>
              <a:t> the </a:t>
            </a:r>
            <a:r>
              <a:rPr lang="it-IT" sz="1400" dirty="0" err="1"/>
              <a:t>correct</a:t>
            </a:r>
            <a:r>
              <a:rPr lang="it-IT" sz="1400" dirty="0"/>
              <a:t> </a:t>
            </a:r>
            <a:r>
              <a:rPr lang="it-IT" sz="1400" dirty="0" err="1"/>
              <a:t>dependencies</a:t>
            </a:r>
            <a:r>
              <a:rPr lang="it-IT" sz="1400" dirty="0"/>
              <a:t> and setting the </a:t>
            </a:r>
            <a:r>
              <a:rPr lang="it-IT" sz="1400" dirty="0" err="1"/>
              <a:t>environment</a:t>
            </a:r>
            <a:r>
              <a:rPr lang="it-IT" sz="1400" dirty="0"/>
              <a:t> </a:t>
            </a:r>
            <a:r>
              <a:rPr lang="it-IT" sz="1400" dirty="0" err="1"/>
              <a:t>variables</a:t>
            </a:r>
            <a:r>
              <a:rPr lang="it-IT" sz="1400" dirty="0"/>
              <a:t> </a:t>
            </a:r>
            <a:r>
              <a:rPr lang="it-IT" sz="1400" dirty="0" err="1"/>
              <a:t>needed</a:t>
            </a:r>
            <a:r>
              <a:rPr lang="it-IT" sz="1400" dirty="0"/>
              <a:t> in an </a:t>
            </a:r>
            <a:r>
              <a:rPr lang="it-IT" sz="1400" dirty="0" err="1"/>
              <a:t>automatic</a:t>
            </a:r>
            <a:r>
              <a:rPr lang="it-IT" sz="1400" dirty="0"/>
              <a:t> way.</a:t>
            </a:r>
          </a:p>
          <a:p>
            <a:pPr marL="1193850" lvl="2" indent="-171450"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it-IT" sz="1400" dirty="0"/>
          </a:p>
          <a:p>
            <a:pPr marL="1193850" lvl="2" indent="-1714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it-IT" sz="1400" dirty="0"/>
              <a:t>TORCS </a:t>
            </a:r>
            <a:r>
              <a:rPr lang="it-IT" sz="1400" dirty="0" err="1"/>
              <a:t>pilots</a:t>
            </a:r>
            <a:r>
              <a:rPr lang="it-IT" sz="1400" dirty="0"/>
              <a:t> are the way to </a:t>
            </a:r>
            <a:r>
              <a:rPr lang="it-IT" sz="1400" dirty="0" err="1"/>
              <a:t>interface</a:t>
            </a:r>
            <a:r>
              <a:rPr lang="it-IT" sz="1400" dirty="0"/>
              <a:t> with TORCS, </a:t>
            </a:r>
            <a:r>
              <a:rPr lang="it-IT" sz="1400" dirty="0" err="1"/>
              <a:t>we</a:t>
            </a:r>
            <a:r>
              <a:rPr lang="it-IT" sz="1400" dirty="0"/>
              <a:t> </a:t>
            </a:r>
            <a:r>
              <a:rPr lang="it-IT" sz="1400" dirty="0" err="1"/>
              <a:t>implemented</a:t>
            </a:r>
            <a:r>
              <a:rPr lang="it-IT" sz="1400" dirty="0"/>
              <a:t> a custom one </a:t>
            </a:r>
            <a:r>
              <a:rPr lang="it-IT" sz="1400" dirty="0" err="1"/>
              <a:t>that</a:t>
            </a:r>
            <a:r>
              <a:rPr lang="it-IT" sz="1400" dirty="0"/>
              <a:t> </a:t>
            </a:r>
            <a:r>
              <a:rPr lang="it-IT" sz="1400" dirty="0" err="1"/>
              <a:t>uses</a:t>
            </a:r>
            <a:r>
              <a:rPr lang="it-IT" sz="1400" dirty="0"/>
              <a:t> a DDS </a:t>
            </a:r>
            <a:r>
              <a:rPr lang="it-IT" sz="1400" dirty="0" err="1"/>
              <a:t>subscriber</a:t>
            </a:r>
            <a:r>
              <a:rPr lang="it-IT" sz="1400" dirty="0"/>
              <a:t> to control the car.</a:t>
            </a:r>
          </a:p>
          <a:p>
            <a:pPr marL="1193850" lvl="2" indent="-171450"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it-IT" sz="1400" dirty="0"/>
          </a:p>
          <a:p>
            <a:pPr marL="1193850" lvl="2" indent="-1714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it-IT" sz="1400" dirty="0"/>
              <a:t>The </a:t>
            </a:r>
            <a:r>
              <a:rPr lang="it-IT" sz="1400" dirty="0" err="1"/>
              <a:t>FreeRTOS</a:t>
            </a:r>
            <a:r>
              <a:rPr lang="it-IT" sz="1400" dirty="0"/>
              <a:t> </a:t>
            </a:r>
            <a:r>
              <a:rPr lang="it-IT" sz="1400" dirty="0" err="1"/>
              <a:t>application</a:t>
            </a:r>
            <a:r>
              <a:rPr lang="it-IT" sz="1400" dirty="0"/>
              <a:t> </a:t>
            </a:r>
            <a:r>
              <a:rPr lang="it-IT" sz="1400" dirty="0" err="1"/>
              <a:t>is</a:t>
            </a:r>
            <a:r>
              <a:rPr lang="it-IT" sz="1400" dirty="0"/>
              <a:t> the last </a:t>
            </a:r>
            <a:r>
              <a:rPr lang="it-IT" sz="1400" dirty="0" err="1"/>
              <a:t>artifact</a:t>
            </a:r>
            <a:r>
              <a:rPr lang="it-IT" sz="1400" dirty="0"/>
              <a:t> and it handles the processing of </a:t>
            </a:r>
            <a:r>
              <a:rPr lang="it-IT" sz="1400" dirty="0" err="1"/>
              <a:t>driving</a:t>
            </a:r>
            <a:r>
              <a:rPr lang="it-IT" sz="1400" dirty="0"/>
              <a:t> data like </a:t>
            </a:r>
            <a:r>
              <a:rPr lang="it-IT" sz="1400" dirty="0" err="1"/>
              <a:t>yaw</a:t>
            </a:r>
            <a:r>
              <a:rPr lang="it-IT" sz="1400" dirty="0"/>
              <a:t> in a </a:t>
            </a:r>
            <a:r>
              <a:rPr lang="it-IT" sz="1400" dirty="0" err="1"/>
              <a:t>similar</a:t>
            </a:r>
            <a:r>
              <a:rPr lang="it-IT" sz="1400" dirty="0"/>
              <a:t> </a:t>
            </a:r>
            <a:r>
              <a:rPr lang="it-IT" sz="1400" dirty="0" err="1"/>
              <a:t>manner</a:t>
            </a:r>
            <a:r>
              <a:rPr lang="it-IT" sz="1400" dirty="0"/>
              <a:t> of an embedded controller. It </a:t>
            </a:r>
            <a:r>
              <a:rPr lang="it-IT" sz="1400" dirty="0" err="1"/>
              <a:t>receives</a:t>
            </a:r>
            <a:r>
              <a:rPr lang="it-IT" sz="1400" dirty="0"/>
              <a:t> inputs, </a:t>
            </a:r>
            <a:r>
              <a:rPr lang="it-IT" sz="1400" dirty="0" err="1"/>
              <a:t>processes</a:t>
            </a:r>
            <a:r>
              <a:rPr lang="it-IT" sz="1400" dirty="0"/>
              <a:t> it and </a:t>
            </a:r>
            <a:r>
              <a:rPr lang="it-IT" sz="1400" dirty="0" err="1"/>
              <a:t>publishes</a:t>
            </a:r>
            <a:r>
              <a:rPr lang="it-IT" sz="1400" dirty="0"/>
              <a:t> it with XRCE DDS.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12856406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306867-22BA-A718-36B4-AD7F46AE0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Outcomes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22C7E0-568E-DA6D-ABFE-AF3B43EC49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Learning </a:t>
            </a:r>
            <a:r>
              <a:rPr lang="it-IT" dirty="0" err="1"/>
              <a:t>outcomes</a:t>
            </a:r>
            <a:r>
              <a:rPr lang="it-IT" dirty="0"/>
              <a:t> 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it-IT" dirty="0"/>
              <a:t>How to use </a:t>
            </a:r>
            <a:r>
              <a:rPr lang="it-IT" dirty="0" err="1"/>
              <a:t>properly</a:t>
            </a:r>
            <a:r>
              <a:rPr lang="it-IT" dirty="0"/>
              <a:t> build systems like Make / MPC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it-IT" dirty="0" err="1"/>
              <a:t>Implementation</a:t>
            </a:r>
            <a:r>
              <a:rPr lang="it-IT" dirty="0"/>
              <a:t> of interrupt drivers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it-IT" dirty="0"/>
              <a:t>How the DDS </a:t>
            </a:r>
            <a:r>
              <a:rPr lang="it-IT" dirty="0" err="1"/>
              <a:t>protocol</a:t>
            </a:r>
            <a:r>
              <a:rPr lang="it-IT" dirty="0"/>
              <a:t> works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it-IT" dirty="0" err="1"/>
              <a:t>Structure</a:t>
            </a:r>
            <a:r>
              <a:rPr lang="it-IT" dirty="0"/>
              <a:t> of Real Time </a:t>
            </a:r>
            <a:r>
              <a:rPr lang="it-IT" dirty="0" err="1"/>
              <a:t>applications</a:t>
            </a:r>
            <a:endParaRPr lang="it-IT" dirty="0"/>
          </a:p>
          <a:p>
            <a:pPr lvl="1">
              <a:buFont typeface="Arial" panose="020B0604020202020204" pitchFamily="34" charset="0"/>
              <a:buChar char="•"/>
            </a:pPr>
            <a:endParaRPr lang="it-IT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201797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8F31F3-FEF8-3135-D87C-0A4D2CB6A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Outcomes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EC748C-ED16-B738-52D5-25882827BA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 err="1"/>
              <a:t>Problems</a:t>
            </a:r>
            <a:r>
              <a:rPr lang="it-IT" dirty="0"/>
              <a:t> </a:t>
            </a:r>
            <a:r>
              <a:rPr lang="it-IT" dirty="0" err="1"/>
              <a:t>Encountered</a:t>
            </a:r>
            <a:endParaRPr lang="it-IT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it-IT" dirty="0" err="1"/>
              <a:t>Missing</a:t>
            </a:r>
            <a:r>
              <a:rPr lang="it-IT" dirty="0"/>
              <a:t> interrupts in the IRQ </a:t>
            </a:r>
            <a:r>
              <a:rPr lang="it-IT" dirty="0" err="1"/>
              <a:t>table</a:t>
            </a:r>
            <a:endParaRPr lang="it-IT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it-IT" dirty="0" err="1"/>
              <a:t>Starvation</a:t>
            </a:r>
            <a:r>
              <a:rPr lang="it-IT" dirty="0"/>
              <a:t> of </a:t>
            </a:r>
            <a:r>
              <a:rPr lang="it-IT" dirty="0" err="1"/>
              <a:t>FreeRTOS</a:t>
            </a:r>
            <a:r>
              <a:rPr lang="it-IT" dirty="0"/>
              <a:t> tasks with low </a:t>
            </a:r>
            <a:r>
              <a:rPr lang="it-IT" dirty="0" err="1"/>
              <a:t>priority</a:t>
            </a:r>
            <a:endParaRPr lang="it-IT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it-IT" dirty="0"/>
              <a:t>Integration of </a:t>
            </a:r>
            <a:r>
              <a:rPr lang="it-IT" dirty="0" err="1"/>
              <a:t>different</a:t>
            </a:r>
            <a:r>
              <a:rPr lang="it-IT" dirty="0"/>
              <a:t> projects (es. TORCS with DDS)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107910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415</Words>
  <Application>Microsoft Office PowerPoint</Application>
  <PresentationFormat>On-screen Show (16:9)</PresentationFormat>
  <Paragraphs>38</Paragraphs>
  <Slides>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Calibri</vt:lpstr>
      <vt:lpstr>Arial</vt:lpstr>
      <vt:lpstr>Play</vt:lpstr>
      <vt:lpstr>Office Theme</vt:lpstr>
      <vt:lpstr>Integrating TORCS within a DDS environment</vt:lpstr>
      <vt:lpstr>Context and problem addressed</vt:lpstr>
      <vt:lpstr>Solution: General Schematization</vt:lpstr>
      <vt:lpstr>Solution: ECU Implementation</vt:lpstr>
      <vt:lpstr>Solution: TORCS Implementation</vt:lpstr>
      <vt:lpstr>Outcomes</vt:lpstr>
      <vt:lpstr>Outcomes</vt:lpstr>
      <vt:lpstr>Outcomes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Giacomo Bossi</dc:creator>
  <cp:lastModifiedBy>Mattia</cp:lastModifiedBy>
  <cp:revision>5</cp:revision>
  <dcterms:created xsi:type="dcterms:W3CDTF">2023-07-20T16:53:45Z</dcterms:created>
  <dcterms:modified xsi:type="dcterms:W3CDTF">2025-08-22T13:18:07Z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2023-07-25</vt:lpwstr>
  </property>
  <property fmtid="{D5CDD505-2E9C-101B-9397-08002B2CF9AE}" pid="3" name="marp">
    <vt:lpwstr>True</vt:lpwstr>
  </property>
  <property fmtid="{D5CDD505-2E9C-101B-9397-08002B2CF9AE}" pid="4" name="math">
    <vt:lpwstr>katex</vt:lpwstr>
  </property>
  <property fmtid="{D5CDD505-2E9C-101B-9397-08002B2CF9AE}" pid="5" name="monofont">
    <vt:lpwstr>Inconsolata</vt:lpwstr>
  </property>
  <property fmtid="{D5CDD505-2E9C-101B-9397-08002B2CF9AE}" pid="6" name="paginate">
    <vt:lpwstr>True</vt:lpwstr>
  </property>
  <property fmtid="{D5CDD505-2E9C-101B-9397-08002B2CF9AE}" pid="7" name="project">
    <vt:lpwstr>st-automotive</vt:lpwstr>
  </property>
  <property fmtid="{D5CDD505-2E9C-101B-9397-08002B2CF9AE}" pid="8" name="size">
    <vt:lpwstr>16:9</vt:lpwstr>
  </property>
  <property fmtid="{D5CDD505-2E9C-101B-9397-08002B2CF9AE}" pid="9" name="subtitle">
    <vt:lpwstr>Your name</vt:lpwstr>
  </property>
  <property fmtid="{D5CDD505-2E9C-101B-9397-08002B2CF9AE}" pid="10" name="tag">
    <vt:lpwstr>presentation</vt:lpwstr>
  </property>
  <property fmtid="{D5CDD505-2E9C-101B-9397-08002B2CF9AE}" pid="11" name="theme">
    <vt:lpwstr>default</vt:lpwstr>
  </property>
</Properties>
</file>